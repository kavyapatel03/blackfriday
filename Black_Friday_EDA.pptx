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6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7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A1A1A"/>
                </a:solidFill>
                <a:latin typeface="Calibri"/>
              </a:rPr>
              <a:t>Percent of transactions by purchase range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transactions</c:v>
                </c:pt>
              </c:strCache>
            </c:strRef>
          </c:tx>
          <c:spPr>
            <a:solidFill>
              <a:srgbClr val="C9A227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6B6B6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0–5K</c:v>
                  </c:pt>
                  <c:pt idx="1">
                    <c:v>5K–10K</c:v>
                  </c:pt>
                  <c:pt idx="2">
                    <c:v>10K–15K</c:v>
                  </c:pt>
                  <c:pt idx="3">
                    <c:v>15K–20K</c:v>
                  </c:pt>
                  <c:pt idx="4">
                    <c:v>20K–25K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39.8</c:v>
                </c:pt>
                <c:pt idx="1">
                  <c:v>32.1</c:v>
                </c:pt>
                <c:pt idx="2">
                  <c:v>19.4</c:v>
                </c:pt>
                <c:pt idx="3">
                  <c:v>7.6</c:v>
                </c:pt>
                <c:pt idx="4">
                  <c:v>1.1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6B6B6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9D9D9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Gender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9A227"/>
              </a:solidFill>
              <a:effectLst/>
            </c:spPr>
          </c:dPt>
          <c:dPt>
            <c:idx val="1"/>
            <c:bubble3D val="0"/>
            <c:spPr>
              <a:solidFill>
                <a:srgbClr val="E5E0D5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Male</c:v>
                </c:pt>
                <c:pt idx="1">
                  <c:v>Female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75.4</c:v>
                </c:pt>
                <c:pt idx="1">
                  <c:v>24.6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A1A1A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Age</c:v>
                </c:pt>
              </c:strCache>
            </c:strRef>
          </c:tx>
          <c:spPr>
            <a:solidFill>
              <a:srgbClr val="C9A227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6B6B6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0-17</c:v>
                  </c:pt>
                  <c:pt idx="1">
                    <c:v>18-25</c:v>
                  </c:pt>
                  <c:pt idx="2">
                    <c:v>26-35</c:v>
                  </c:pt>
                  <c:pt idx="3">
                    <c:v>36-45</c:v>
                  </c:pt>
                  <c:pt idx="4">
                    <c:v>46-50</c:v>
                  </c:pt>
                  <c:pt idx="5">
                    <c:v>51-55</c:v>
                  </c:pt>
                  <c:pt idx="6">
                    <c:v>55+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2.75</c:v>
                </c:pt>
                <c:pt idx="1">
                  <c:v>18.12</c:v>
                </c:pt>
                <c:pt idx="2">
                  <c:v>39.92</c:v>
                </c:pt>
                <c:pt idx="3">
                  <c:v>19.99</c:v>
                </c:pt>
                <c:pt idx="4">
                  <c:v>8.31</c:v>
                </c:pt>
                <c:pt idx="5">
                  <c:v>6.99</c:v>
                </c:pt>
                <c:pt idx="6">
                  <c:v>3.91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950" u="none">
                  <a:solidFill>
                    <a:srgbClr val="6B6B6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D9D9D9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A1A1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Marital 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9A227"/>
              </a:solidFill>
              <a:effectLst/>
            </c:spPr>
          </c:dPt>
          <c:dPt>
            <c:idx val="1"/>
            <c:bubble3D val="0"/>
            <c:spPr>
              <a:solidFill>
                <a:srgbClr val="E5E0D5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Unmarried</c:v>
                </c:pt>
                <c:pt idx="1">
                  <c:v>Married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59</c:v>
                </c:pt>
                <c:pt idx="1">
                  <c:v>41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A1A1A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City category</c:v>
                </c:pt>
              </c:strCache>
            </c:strRef>
          </c:tx>
          <c:spPr>
            <a:solidFill>
              <a:srgbClr val="C9A227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6B6B6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City A</c:v>
                  </c:pt>
                  <c:pt idx="1">
                    <c:v>City B</c:v>
                  </c:pt>
                  <c:pt idx="2">
                    <c:v>City C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26.9</c:v>
                </c:pt>
                <c:pt idx="1">
                  <c:v>42</c:v>
                </c:pt>
                <c:pt idx="2">
                  <c:v>31.1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6B6B6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9D9D9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1A1A1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Stay years</c:v>
                </c:pt>
              </c:strCache>
            </c:strRef>
          </c:tx>
          <c:spPr>
            <a:solidFill>
              <a:srgbClr val="C9A227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6B6B6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0 years</c:v>
                  </c:pt>
                  <c:pt idx="1">
                    <c:v>1 year</c:v>
                  </c:pt>
                  <c:pt idx="2">
                    <c:v>2 years</c:v>
                  </c:pt>
                  <c:pt idx="3">
                    <c:v>3 years</c:v>
                  </c:pt>
                  <c:pt idx="4">
                    <c:v>4+ years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13.5</c:v>
                </c:pt>
                <c:pt idx="1">
                  <c:v>35.2</c:v>
                </c:pt>
                <c:pt idx="2">
                  <c:v>18.5</c:v>
                </c:pt>
                <c:pt idx="3">
                  <c:v>17.3</c:v>
                </c:pt>
                <c:pt idx="4">
                  <c:v>15.5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6B6B6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9D9D9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Transactions</c:v>
                </c:pt>
              </c:strCache>
            </c:strRef>
          </c:tx>
          <c:spPr>
            <a:solidFill>
              <a:srgbClr val="C9A227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50" u="none">
                    <a:solidFill>
                      <a:srgbClr val="6B6B6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Category 5</c:v>
                  </c:pt>
                  <c:pt idx="1">
                    <c:v>Category 1</c:v>
                  </c:pt>
                  <c:pt idx="2">
                    <c:v>Category 8</c:v>
                  </c:pt>
                  <c:pt idx="3">
                    <c:v>Category 11</c:v>
                  </c:pt>
                  <c:pt idx="4">
                    <c:v>Category 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26</c:v>
                </c:pt>
                <c:pt idx="1">
                  <c:v>25.5</c:v>
                </c:pt>
                <c:pt idx="2">
                  <c:v>20.9</c:v>
                </c:pt>
                <c:pt idx="3">
                  <c:v>5.3</c:v>
                </c:pt>
                <c:pt idx="4">
                  <c:v>4.3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50" u="none">
                  <a:solidFill>
                    <a:srgbClr val="6B6B6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D9D9D9"/>
            </a:solidFill>
            <a:prstDash val="solid"/>
            <a:round/>
          </a:ln>
        </c:spPr>
        <c:txPr>
          <a:bodyPr/>
          <a:lstStyle/>
          <a:p>
            <a:pPr>
              <a:defRPr sz="1250" b="0" i="0" u="none" strike="noStrike">
                <a:solidFill>
                  <a:srgbClr val="1A1A1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488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FRIDAY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251460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5204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customer purchase behavior through the Black Friday retail transactions dataset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4160520"/>
            <a:ext cx="502920" cy="5486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6035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Analytics  •  Consumer Behavior  •  550,068 Transactions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772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8745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187452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2221992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Structure, size, and feature summary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91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329184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3639312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missing values before analysis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7091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1600200" y="470916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Behavior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5056632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and spread of purchase amounts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18745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7178040" y="187452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Demographics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178040" y="2221992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Gender, age, marital status, occupation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3291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7178040" y="329184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&amp; Tenure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178040" y="3639312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category and years of residence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47091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7178040" y="470916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Categories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178040" y="5056632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categories drive the most purchases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Friday Sales — Exploratory Data Analysis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772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371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retail transactions file capturing purchases made during a Black Friday sales event.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2514600" cy="137160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51560" y="2313432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550,068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292608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rows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566160" y="2148840"/>
            <a:ext cx="2514600" cy="137160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794760" y="2313432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3794760" y="292608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columns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309360" y="2148840"/>
            <a:ext cx="2514600" cy="137160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37960" y="2313432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5,891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292608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products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052560" y="2148840"/>
            <a:ext cx="2514600" cy="137160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81160" y="2313432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3,623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9281160" y="292608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customers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3886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fields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22960" y="4379976"/>
            <a:ext cx="64008" cy="6400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051560" y="429768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User_ID, Product_ID — transaction identifiers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22960" y="4745736"/>
            <a:ext cx="64008" cy="6400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051560" y="466344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Gender, Age, Occupation, Marital_Status — demographics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22960" y="5111496"/>
            <a:ext cx="64008" cy="6400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051560" y="502920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City_Category, Stay_In_Current_City_Years — geography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22960" y="5477256"/>
            <a:ext cx="64008" cy="6400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051560" y="539496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Product_Category_1/2/3 — up to 3 categories per product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22960" y="5843016"/>
            <a:ext cx="64008" cy="6400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1051560" y="576072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— transaction amount (target variable)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Friday Sales — Exploratory Data Analysis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772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&amp; missing values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4173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fields carry structural nulls: not every product has a second or third category.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03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by column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060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Product_Category_3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822960" y="2898648"/>
            <a:ext cx="4480560" cy="201168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2898648"/>
            <a:ext cx="3122950" cy="20116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40680" y="28620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69.7%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3832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Product_Category_2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22960" y="3675888"/>
            <a:ext cx="4480560" cy="201168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3675888"/>
            <a:ext cx="1415857" cy="20116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40680" y="363931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31.6%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1605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other columns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2960" y="4453128"/>
            <a:ext cx="4480560" cy="201168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4453128"/>
            <a:ext cx="45720" cy="20116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40680" y="44165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537960" y="2103120"/>
            <a:ext cx="4846320" cy="3886200"/>
          </a:xfrm>
          <a:prstGeom prst="rect">
            <a:avLst/>
          </a:prstGeom>
          <a:solidFill>
            <a:srgbClr val="F4F4F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812280" y="23317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approach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812280" y="2816352"/>
            <a:ext cx="64008" cy="6400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022592" y="2743200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category values mean no 2nd/3rd category applies — not an error.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812280" y="3593592"/>
            <a:ext cx="64008" cy="6400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022592" y="3520440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 as null rather than imputed, since a fabricated category would bias category-level counts.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812280" y="4370832"/>
            <a:ext cx="64008" cy="6400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022592" y="4297680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and demographic fields have no missing values; used as-is.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812280" y="5148072"/>
            <a:ext cx="64008" cy="6400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022592" y="5074920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fields (Age, City_Category, Stay years) treated as ordered/unordered categories for grouping.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Friday Sales — Exploratory Data Analysis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772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Purchase amount distribution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55448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9,333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05740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purchase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566160" y="155448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8,062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3566160" y="205740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purchase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155448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6309360" y="205740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9052560" y="155448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23,961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9052560" y="205740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" y="2331720"/>
            <a:ext cx="1056132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graphicFrame>
        <p:nvGraphicFramePr>
          <p:cNvPr id="13" name="Chart 0" descr=""/>
          <p:cNvGraphicFramePr/>
          <p:nvPr/>
        </p:nvGraphicFramePr>
        <p:xfrm>
          <a:off x="822960" y="2606040"/>
          <a:ext cx="105613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Text 11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Friday Sales — Exploratory Data Analysis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772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demographics — gender &amp; age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600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split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920240"/>
          <a:ext cx="420624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349240" y="1600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group share</a:t>
            </a:r>
            <a:endParaRPr lang="en-US" sz="13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5120640" y="1920240"/>
          <a:ext cx="626364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 txBox="1"/>
          <p:nvPr/>
        </p:nvSpPr>
        <p:spPr>
          <a:xfrm>
            <a:off x="822960" y="5029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aged 26–35 make up the largest single segment, and male shoppers account for roughly three in four transactions.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Friday Sales — Exploratory Data Analysis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772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Marital status &amp; city category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600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Marital status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920240"/>
          <a:ext cx="420624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349240" y="1600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category</a:t>
            </a:r>
            <a:endParaRPr lang="en-US" sz="13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5120640" y="1920240"/>
          <a:ext cx="626364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 txBox="1"/>
          <p:nvPr/>
        </p:nvSpPr>
        <p:spPr>
          <a:xfrm>
            <a:off x="822960" y="5029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Unmarried customers generate a majority of transactions, and City Category B contributes the largest share of purchases.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Friday Sales — Exploratory Data Analysis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772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Years of residence in current city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4173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shoppers are relatively recent residents, with tenure share declining the longer they have stayed.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822960" y="2103120"/>
          <a:ext cx="1056132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Friday Sales — Exploratory Data Analysis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7772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purchased product categories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4173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number of transactions in Product_Category_1.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822960" y="2103120"/>
          <a:ext cx="1056132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Friday Sales — Exploratory Data Analysis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85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0058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411480" cy="5486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33172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buyer profile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43200"/>
            <a:ext cx="5074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shoppers aged 26–35, unmarried, living in City Category B, drive the largest share of transactions.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309360" y="2148840"/>
            <a:ext cx="411480" cy="5486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09360" y="233172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Concentrated categories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309360" y="2743200"/>
            <a:ext cx="5074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product categories (5, 1, 8) account for roughly three-quarters of all purchases.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4114800"/>
            <a:ext cx="411480" cy="5486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429768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spend, high volume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709160"/>
            <a:ext cx="5074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purchase (~8,062) is well below the max (23,961) — revenue comes from volume, not outliers.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09360" y="4114800"/>
            <a:ext cx="411480" cy="5486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309360" y="429768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next step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4709160"/>
            <a:ext cx="5074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inventory and promotions around the dominant demographic and top categories for peak season.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Friday Sales — Exploratory Data Analysis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2026-09-06T16:00:45Z</dcterms:created>
  <dcterms:modified xsi:type="dcterms:W3CDTF">2026-09-06T16:00:45Z</dcterms:modified>
</cp:coreProperties>
</file>
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2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0-17</c:v>
                </c:pt>
                <c:pt idx="1">
                  <c:v>18-25</c:v>
                </c:pt>
                <c:pt idx="2">
                  <c:v>26-35</c:v>
                </c:pt>
                <c:pt idx="3">
                  <c:v>36-45</c:v>
                </c:pt>
                <c:pt idx="4">
                  <c:v>46-50</c:v>
                </c:pt>
                <c:pt idx="5">
                  <c:v>51-55</c:v>
                </c:pt>
                <c:pt idx="6">
                  <c:v>55+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2.75</c:v>
                </c:pt>
                <c:pt idx="1">
                  <c:v>18.12</c:v>
                </c:pt>
                <c:pt idx="2">
                  <c:v>39.92</c:v>
                </c:pt>
                <c:pt idx="3">
                  <c:v>19.989999999999998</c:v>
                </c:pt>
                <c:pt idx="4">
                  <c:v>8.31</c:v>
                </c:pt>
                <c:pt idx="5">
                  <c:v>6.99</c:v>
                </c:pt>
                <c:pt idx="6">
                  <c:v>3.91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F0-4584-B803-0D3ABCAE9A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444406405721024"/>
          <c:y val="5.3763440860215055E-2"/>
          <c:w val="0.53111210962760091"/>
          <c:h val="0.7881018400925691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Marital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6C7-464A-8934-5925D75F1BB8}"/>
              </c:ext>
            </c:extLst>
          </c:dPt>
          <c:dPt>
            <c:idx val="1"/>
            <c:bubble3D val="0"/>
            <c:spPr>
              <a:solidFill>
                <a:srgbClr val="E5E0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C7-464A-8934-5925D75F1BB8}"/>
              </c:ext>
            </c:extLst>
          </c:dPt>
          <c:cat>
            <c:strRef>
              <c:f>Sheet1!$A$2:$A$3</c:f>
              <c:strCache>
                <c:ptCount val="2"/>
                <c:pt idx="0">
                  <c:v>Unmarried</c:v>
                </c:pt>
                <c:pt idx="1">
                  <c:v>Married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</c:v>
                </c:pt>
                <c:pt idx="1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C7-464A-8934-5925D75F1B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City category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City A</c:v>
                </c:pt>
                <c:pt idx="1">
                  <c:v>City B</c:v>
                </c:pt>
                <c:pt idx="2">
                  <c:v>City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26.9</c:v>
                </c:pt>
                <c:pt idx="1">
                  <c:v>42</c:v>
                </c:pt>
                <c:pt idx="2">
                  <c:v>31.1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75-4059-B147-6AB0F58C2B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 years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 years</c:v>
                </c:pt>
                <c:pt idx="1">
                  <c:v>1 year</c:v>
                </c:pt>
                <c:pt idx="2">
                  <c:v>2 years</c:v>
                </c:pt>
                <c:pt idx="3">
                  <c:v>3 years</c:v>
                </c:pt>
                <c:pt idx="4">
                  <c:v>4+ years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13.5</c:v>
                </c:pt>
                <c:pt idx="1">
                  <c:v>35.200000000000003</c:v>
                </c:pt>
                <c:pt idx="2">
                  <c:v>18.5</c:v>
                </c:pt>
                <c:pt idx="3">
                  <c:v>17.3</c:v>
                </c:pt>
                <c:pt idx="4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99-4531-B2CF-21FA61E0FB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0.42701</cdr:x>
      <cdr:y>0.33871</cdr:y>
    </cdr:from>
    <cdr:to>
      <cdr:x>0.57299</cdr:x>
      <cdr:y>0.66129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DF495758-8316-0F4D-1490-61C991CD8F54}"/>
            </a:ext>
          </a:extLst>
        </cdr:cNvPr>
        <cdr:cNvSpPr txBox="1"/>
      </cdr:nvSpPr>
      <cdr:spPr>
        <a:xfrm xmlns:a="http://schemas.openxmlformats.org/drawingml/2006/main">
          <a:off x="2674620" y="96012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IN" sz="110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18B5F-648A-41C5-9B1E-619FF8F0B0D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22A79-C927-44E7-B34C-1C505A6DB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229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0E7E-AD91-123E-51F0-82C6DB15A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A2030C-3D82-E49E-B6A9-D4A871A09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C2FA5-4156-847A-D72A-0AEDE3E0C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60891-C095-B6CE-005A-AE78C0E8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B1386-942C-0FE2-8C9F-8DCDB6A3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87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8EE56-91D3-4244-61FD-74D0E485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BE0F4-1226-2FFE-5CF6-6A7773650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0F472-6026-7E63-6DB3-6E6038A0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CA970-1918-918C-4390-2BCD77EB0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1765F-BD2D-F1DF-212D-1FE21364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65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23241-998E-B1C7-49F9-B0B08A544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C6730-5E86-875D-4320-0EA0BD864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89D19-E95D-3718-14AA-5C792EBB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DEEC6-AACD-6D8A-25C8-83BF774A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66EB4-C9D0-86F9-D0AA-112ADCFE3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67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B49EB-0E52-4F0A-8C1D-24B356EF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9489E-3FE4-0C01-142F-7E011F18A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6FD4D-A26E-A79B-0316-7A62AA4A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F6BDC-7ED2-F9C6-85A7-E68F1D8DD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7E3FB-2426-6515-6D6C-688B916B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25B21-9BC8-E076-9F0D-784F06F6E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648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18F70-9D08-F7A3-7C68-8555E2917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977E7-3508-C061-0F5D-4C4A9A2F3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5EBA-EA17-8AE6-0869-C04D7E15C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D936C8-5E7A-FB8F-15F4-B4CE3AD68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C52D2-3C8C-47D4-9EBF-BF193C4D9D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862424-D7C3-AD00-9E26-F70DF452D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FE910-D48C-76DA-F3AA-7AEE58C90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A8558-BF24-8F5D-B8D6-D4ACB631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095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CF87-336C-F841-F248-F95446569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23463B-6CC5-1D10-9BC0-026260BE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2D0055-B392-1272-37AD-D41273A8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3691B-2D19-2A73-CE4B-5A01801E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31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3043B-9311-B5F3-096D-BC692D75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12D26-00AC-D1A1-3549-35F62EFEF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40F07-74EF-3465-5663-94E518A5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63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AE92-A451-C05E-8F52-AD4ED4791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49792-00EC-1FBF-B05F-3CE5082BE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83556-9E34-FD5E-AC24-20D0FB2F3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B9F1B-C64B-6D39-58D9-BFE89476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674B0-DA99-5088-9281-889083CE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568A8-0170-1D95-0246-0030A83E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90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172D-C461-EAF1-F3D1-88CF5F738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3F95C2-7107-D1AD-0782-C13D52307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CA709-90E8-467D-51CC-B0821412F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D75D0-E964-FB3F-7FCD-E143A331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780B4-5378-9175-E39A-738DAFEA9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8A829-1F7E-F9E0-5C7E-E2E40543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596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FCC84-4A10-1C4E-9512-A043A510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ED527-7D1C-C0F3-AB74-8B65C74C6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7B4E4-0502-3B9B-2B27-D0D2C3A9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34276-F240-EE9E-B8CC-C6939B01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9D9A6-6696-B0A9-8826-10EF0401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90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D833DC-C15B-E140-E26B-57BFD859B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9A661-BA90-6A5A-143C-B47089100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E6751-B4C0-6D22-9B6A-18772145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54676-5376-B519-93C4-B85825B8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9C926-AE20-3F34-B836-A54F4317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067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5503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A8CB1-7C51-AFE1-C526-7698F448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7F971-3B2C-8AD4-D0E0-EDD7EA86D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24CD9-114A-FF06-3DD9-FD4F27881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7B187-94F8-40C3-90AA-3A79083E2A6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E1A72-B840-E620-6261-7C739FC3F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87CE4-1747-B94B-2023-55C0D0036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AAFEC-28EA-4DC4-AADD-F821A135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4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5146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purchase behavior through the Black Friday retail transactions dataset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6D2412F7-BBA9-D414-7134-691AEC72CCBD}"/>
              </a:ext>
            </a:extLst>
          </p:cNvPr>
          <p:cNvSpPr txBox="1"/>
          <p:nvPr/>
        </p:nvSpPr>
        <p:spPr>
          <a:xfrm>
            <a:off x="531647" y="235073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572BAC-4FC4-A202-FE15-79EC62BA2677}"/>
              </a:ext>
            </a:extLst>
          </p:cNvPr>
          <p:cNvSpPr/>
          <p:nvPr/>
        </p:nvSpPr>
        <p:spPr>
          <a:xfrm>
            <a:off x="663547" y="1440382"/>
            <a:ext cx="623087" cy="5988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9A227"/>
                </a:solidFill>
              </a:rPr>
              <a:t>01</a:t>
            </a:r>
            <a:endParaRPr lang="en-IN" dirty="0">
              <a:solidFill>
                <a:srgbClr val="C9A227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73903-3793-91D7-FE8B-BA536FA0D39E}"/>
              </a:ext>
            </a:extLst>
          </p:cNvPr>
          <p:cNvSpPr txBox="1"/>
          <p:nvPr/>
        </p:nvSpPr>
        <p:spPr>
          <a:xfrm>
            <a:off x="1470325" y="1242126"/>
            <a:ext cx="40379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Dataset Overview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744420-738D-5A4D-5193-8C0076885230}"/>
              </a:ext>
            </a:extLst>
          </p:cNvPr>
          <p:cNvSpPr txBox="1"/>
          <p:nvPr/>
        </p:nvSpPr>
        <p:spPr>
          <a:xfrm>
            <a:off x="1480842" y="1580680"/>
            <a:ext cx="40379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Firstly, we will figure out the meaning and the uses of the column given</a:t>
            </a:r>
            <a:r>
              <a:rPr lang="en-US" sz="16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16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92218A-37E7-C205-F25F-AFC6850C8E10}"/>
              </a:ext>
            </a:extLst>
          </p:cNvPr>
          <p:cNvSpPr/>
          <p:nvPr/>
        </p:nvSpPr>
        <p:spPr>
          <a:xfrm>
            <a:off x="6934873" y="1440382"/>
            <a:ext cx="623087" cy="5988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9A227"/>
                </a:solidFill>
              </a:rPr>
              <a:t>02</a:t>
            </a:r>
            <a:endParaRPr lang="en-IN" dirty="0">
              <a:solidFill>
                <a:srgbClr val="C9A227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E38F8E-5506-3E1E-BDFE-7982A3A1B0D1}"/>
              </a:ext>
            </a:extLst>
          </p:cNvPr>
          <p:cNvSpPr txBox="1"/>
          <p:nvPr/>
        </p:nvSpPr>
        <p:spPr>
          <a:xfrm>
            <a:off x="7741651" y="1242126"/>
            <a:ext cx="40379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Dataset Cleaning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F2B775-2A29-3495-F7CD-40CED1CA74AE}"/>
              </a:ext>
            </a:extLst>
          </p:cNvPr>
          <p:cNvSpPr txBox="1"/>
          <p:nvPr/>
        </p:nvSpPr>
        <p:spPr>
          <a:xfrm>
            <a:off x="7741651" y="1594603"/>
            <a:ext cx="4037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9A227"/>
                </a:solidFill>
              </a:rPr>
              <a:t>Filling the empty or incorrectly filled data with an appropriate value and removing the unwanted data.</a:t>
            </a:r>
            <a:endParaRPr lang="en-IN" sz="1400" dirty="0">
              <a:solidFill>
                <a:srgbClr val="C9A227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F680A2-9B94-B4AB-B5A8-80A5617478A7}"/>
              </a:ext>
            </a:extLst>
          </p:cNvPr>
          <p:cNvSpPr/>
          <p:nvPr/>
        </p:nvSpPr>
        <p:spPr>
          <a:xfrm>
            <a:off x="663547" y="3766575"/>
            <a:ext cx="623087" cy="5988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9A227"/>
                </a:solidFill>
              </a:rPr>
              <a:t>03</a:t>
            </a:r>
            <a:endParaRPr lang="en-IN" dirty="0">
              <a:solidFill>
                <a:srgbClr val="C9A227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8CDDAB-FCDD-753E-352B-F0331A9994C9}"/>
              </a:ext>
            </a:extLst>
          </p:cNvPr>
          <p:cNvSpPr txBox="1"/>
          <p:nvPr/>
        </p:nvSpPr>
        <p:spPr>
          <a:xfrm>
            <a:off x="1480842" y="3597298"/>
            <a:ext cx="40379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Visualization of the results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95A200-34EE-A21A-7ED8-875BB238E48A}"/>
              </a:ext>
            </a:extLst>
          </p:cNvPr>
          <p:cNvSpPr txBox="1"/>
          <p:nvPr/>
        </p:nvSpPr>
        <p:spPr>
          <a:xfrm>
            <a:off x="1470325" y="3935852"/>
            <a:ext cx="4037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9A227"/>
                </a:solidFill>
              </a:rPr>
              <a:t>By the use of matplotlib, we will visualize the results in graphs , pie charts , histogram , scatter graph.</a:t>
            </a:r>
            <a:endParaRPr lang="en-IN" sz="1400" dirty="0">
              <a:solidFill>
                <a:srgbClr val="C9A227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4C0AEFD-DDFE-E627-EE47-4B610684D99E}"/>
              </a:ext>
            </a:extLst>
          </p:cNvPr>
          <p:cNvSpPr/>
          <p:nvPr/>
        </p:nvSpPr>
        <p:spPr>
          <a:xfrm>
            <a:off x="6934872" y="3766575"/>
            <a:ext cx="623087" cy="5988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9A227"/>
                </a:solidFill>
              </a:rPr>
              <a:t>04</a:t>
            </a:r>
            <a:endParaRPr lang="en-IN" dirty="0">
              <a:solidFill>
                <a:srgbClr val="C9A227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ADAFB6-B85B-22C2-9C56-B8B993EC4CAB}"/>
              </a:ext>
            </a:extLst>
          </p:cNvPr>
          <p:cNvSpPr txBox="1"/>
          <p:nvPr/>
        </p:nvSpPr>
        <p:spPr>
          <a:xfrm>
            <a:off x="7741651" y="3597298"/>
            <a:ext cx="40379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Drawing key insights from the results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D1E476-098E-D7FC-9BCB-293B4774EA44}"/>
              </a:ext>
            </a:extLst>
          </p:cNvPr>
          <p:cNvSpPr txBox="1"/>
          <p:nvPr/>
        </p:nvSpPr>
        <p:spPr>
          <a:xfrm>
            <a:off x="7741651" y="3935852"/>
            <a:ext cx="4037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9A227"/>
                </a:solidFill>
              </a:rPr>
              <a:t>Write a meaningful conclusion that can be drawn from the result.</a:t>
            </a:r>
            <a:endParaRPr lang="en-IN" sz="1400" dirty="0">
              <a:solidFill>
                <a:srgbClr val="C9A2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21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C028342-0AC3-A490-40EA-BDB7DA9EFD66}"/>
              </a:ext>
            </a:extLst>
          </p:cNvPr>
          <p:cNvSpPr txBox="1"/>
          <p:nvPr/>
        </p:nvSpPr>
        <p:spPr>
          <a:xfrm>
            <a:off x="515462" y="154153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E0A2CD-E5B5-EDB3-D90E-0F21701162C4}"/>
              </a:ext>
            </a:extLst>
          </p:cNvPr>
          <p:cNvSpPr/>
          <p:nvPr/>
        </p:nvSpPr>
        <p:spPr>
          <a:xfrm>
            <a:off x="388419" y="1092425"/>
            <a:ext cx="2767476" cy="152130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639B8A-AD64-AE33-505D-5AA066E93333}"/>
              </a:ext>
            </a:extLst>
          </p:cNvPr>
          <p:cNvSpPr/>
          <p:nvPr/>
        </p:nvSpPr>
        <p:spPr>
          <a:xfrm>
            <a:off x="3328524" y="1092425"/>
            <a:ext cx="2767476" cy="152130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A23A2C-770E-A5D7-D71D-0F23BBF4380F}"/>
              </a:ext>
            </a:extLst>
          </p:cNvPr>
          <p:cNvSpPr/>
          <p:nvPr/>
        </p:nvSpPr>
        <p:spPr>
          <a:xfrm>
            <a:off x="9208738" y="1092425"/>
            <a:ext cx="2767476" cy="152130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033CCE2-84D9-C6C5-61D7-3803074D3ADA}"/>
              </a:ext>
            </a:extLst>
          </p:cNvPr>
          <p:cNvSpPr/>
          <p:nvPr/>
        </p:nvSpPr>
        <p:spPr>
          <a:xfrm>
            <a:off x="6268631" y="1092425"/>
            <a:ext cx="2767476" cy="152130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2F2672-FFA5-0B9D-AEE5-92421A23E43F}"/>
              </a:ext>
            </a:extLst>
          </p:cNvPr>
          <p:cNvSpPr txBox="1"/>
          <p:nvPr/>
        </p:nvSpPr>
        <p:spPr>
          <a:xfrm>
            <a:off x="515462" y="1314467"/>
            <a:ext cx="2225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</a:p>
          <a:p>
            <a:endParaRPr lang="en-US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Feature columns</a:t>
            </a: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5F07D5-6848-4C5C-F3E3-AD054BF0593D}"/>
              </a:ext>
            </a:extLst>
          </p:cNvPr>
          <p:cNvSpPr txBox="1"/>
          <p:nvPr/>
        </p:nvSpPr>
        <p:spPr>
          <a:xfrm>
            <a:off x="3451523" y="1314467"/>
            <a:ext cx="2225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3623</a:t>
            </a:r>
          </a:p>
          <a:p>
            <a:endParaRPr lang="en-US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Unique Customers</a:t>
            </a: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950730-42CE-5AF0-FB41-6AB669B56D80}"/>
              </a:ext>
            </a:extLst>
          </p:cNvPr>
          <p:cNvSpPr txBox="1"/>
          <p:nvPr/>
        </p:nvSpPr>
        <p:spPr>
          <a:xfrm>
            <a:off x="6397023" y="1314467"/>
            <a:ext cx="2225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550,068</a:t>
            </a:r>
          </a:p>
          <a:p>
            <a:endParaRPr lang="en-US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Transaction Rows</a:t>
            </a: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D3382F-DE14-02D0-EDDB-892DEF0F035E}"/>
              </a:ext>
            </a:extLst>
          </p:cNvPr>
          <p:cNvSpPr txBox="1"/>
          <p:nvPr/>
        </p:nvSpPr>
        <p:spPr>
          <a:xfrm>
            <a:off x="9208738" y="1314467"/>
            <a:ext cx="2225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5891</a:t>
            </a:r>
          </a:p>
          <a:p>
            <a:endParaRPr lang="en-US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Unique Products</a:t>
            </a: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16A6EA-25A1-FF78-93F2-2965C25AC420}"/>
              </a:ext>
            </a:extLst>
          </p:cNvPr>
          <p:cNvSpPr txBox="1"/>
          <p:nvPr/>
        </p:nvSpPr>
        <p:spPr>
          <a:xfrm>
            <a:off x="388419" y="3107342"/>
            <a:ext cx="114421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Key Fields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User ID , Product ID – Transaction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Gender , Age , Occupation , Marital Status – Demographic Profile of the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No. years a person has stayed in the city  , City category – Geographical Profile of the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 Category 1 , Product Category 2 , Product Category 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Purchase amount – Transaction amount [Main target]</a:t>
            </a: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848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C14D45-2923-9BC1-5A1F-914D6F30C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0937"/>
            <a:ext cx="5422403" cy="3799615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33444E38-10CC-DF99-A3F9-212A42385B68}"/>
              </a:ext>
            </a:extLst>
          </p:cNvPr>
          <p:cNvSpPr txBox="1"/>
          <p:nvPr/>
        </p:nvSpPr>
        <p:spPr>
          <a:xfrm>
            <a:off x="296978" y="89417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demographics — gender &amp; age</a:t>
            </a:r>
            <a:endParaRPr lang="en-US" sz="2600" dirty="0"/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EA65B135-8DB0-54AB-4428-25BA984259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4658142"/>
              </p:ext>
            </p:extLst>
          </p:nvPr>
        </p:nvGraphicFramePr>
        <p:xfrm>
          <a:off x="5529926" y="1355415"/>
          <a:ext cx="6263640" cy="2868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97C8AE2-2DD5-D4DC-0DD2-D42286569442}"/>
              </a:ext>
            </a:extLst>
          </p:cNvPr>
          <p:cNvSpPr txBox="1"/>
          <p:nvPr/>
        </p:nvSpPr>
        <p:spPr>
          <a:xfrm>
            <a:off x="296978" y="4758520"/>
            <a:ext cx="1159126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Key Insights</a:t>
            </a:r>
          </a:p>
          <a:p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most number of the purchasers are from the age group of 26-35.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Male purchasers are 4 times the number of Female purchasers.</a:t>
            </a:r>
          </a:p>
        </p:txBody>
      </p:sp>
    </p:spTree>
    <p:extLst>
      <p:ext uri="{BB962C8B-B14F-4D97-AF65-F5344CB8AC3E}">
        <p14:creationId xmlns:p14="http://schemas.microsoft.com/office/powerpoint/2010/main" val="3787078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11790370-3FD2-183F-7DD9-EFCB371EEE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41032"/>
              </p:ext>
            </p:extLst>
          </p:nvPr>
        </p:nvGraphicFramePr>
        <p:xfrm>
          <a:off x="500088" y="1564190"/>
          <a:ext cx="4206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02A08275-E3CC-FE54-7A0C-3F08B436D4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9644118"/>
              </p:ext>
            </p:extLst>
          </p:nvPr>
        </p:nvGraphicFramePr>
        <p:xfrm>
          <a:off x="5112548" y="1669387"/>
          <a:ext cx="6263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A5113795-7ECA-4991-53A3-0F95E49B7B1D}"/>
              </a:ext>
            </a:extLst>
          </p:cNvPr>
          <p:cNvSpPr txBox="1"/>
          <p:nvPr/>
        </p:nvSpPr>
        <p:spPr>
          <a:xfrm>
            <a:off x="361714" y="146061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Marital status &amp; City category</a:t>
            </a:r>
            <a:endParaRPr lang="en-US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B7B679-601D-8F0A-26BA-B675557866DB}"/>
              </a:ext>
            </a:extLst>
          </p:cNvPr>
          <p:cNvSpPr txBox="1"/>
          <p:nvPr/>
        </p:nvSpPr>
        <p:spPr>
          <a:xfrm>
            <a:off x="500088" y="4843083"/>
            <a:ext cx="1076240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Key Insights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Most purchasers are from City B and hence we can open more stores in City B to cater more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 most purchasers are unmarried , we can increase the stock of goods that are mostly used by bachelors to increase the sales.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87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A9C3F8C-5671-469D-5F2B-14919FF0E0BA}"/>
              </a:ext>
            </a:extLst>
          </p:cNvPr>
          <p:cNvSpPr txBox="1"/>
          <p:nvPr/>
        </p:nvSpPr>
        <p:spPr>
          <a:xfrm>
            <a:off x="369806" y="105601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of residence in current city</a:t>
            </a:r>
            <a:endParaRPr lang="en-US" sz="26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B52544BF-6407-7115-C6D3-E91BF3292F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5457707"/>
              </p:ext>
            </p:extLst>
          </p:nvPr>
        </p:nvGraphicFramePr>
        <p:xfrm>
          <a:off x="742040" y="683372"/>
          <a:ext cx="105613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0CFBF1C-4F67-B7F4-2C69-65BCC770440C}"/>
              </a:ext>
            </a:extLst>
          </p:cNvPr>
          <p:cNvSpPr txBox="1"/>
          <p:nvPr/>
        </p:nvSpPr>
        <p:spPr>
          <a:xfrm>
            <a:off x="517890" y="4968510"/>
            <a:ext cx="111993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Key Insights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 most of the purchasers are staying only for around 1 year , they will be in a need of products like furniture and kitchen utensils so we can take the benefit of this need to increase our profit as well us it to clear stock with discounts.</a:t>
            </a:r>
          </a:p>
        </p:txBody>
      </p:sp>
    </p:spTree>
    <p:extLst>
      <p:ext uri="{BB962C8B-B14F-4D97-AF65-F5344CB8AC3E}">
        <p14:creationId xmlns:p14="http://schemas.microsoft.com/office/powerpoint/2010/main" val="418607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BA30398-8673-4202-17A6-74653735DE8D}"/>
              </a:ext>
            </a:extLst>
          </p:cNvPr>
          <p:cNvSpPr txBox="1"/>
          <p:nvPr/>
        </p:nvSpPr>
        <p:spPr>
          <a:xfrm>
            <a:off x="337438" y="97509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</a:rPr>
              <a:t>Key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B8837-AFF2-CFAC-75D9-3F1909941353}"/>
              </a:ext>
            </a:extLst>
          </p:cNvPr>
          <p:cNvSpPr txBox="1"/>
          <p:nvPr/>
        </p:nvSpPr>
        <p:spPr>
          <a:xfrm>
            <a:off x="153749" y="914400"/>
            <a:ext cx="11895292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number of male shoppers are 4,14,259. Total number of female shoppers are 1,35,809</a:t>
            </a:r>
            <a:r>
              <a:rPr lang="en-IN" dirty="0">
                <a:solidFill>
                  <a:srgbClr val="C9A227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most common age group of shoppers is 26-35.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most number of shoppers are from city 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There are 2474 unique married shoppers.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There are 3417 unique unmarried shoppers.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total purchase by Male is 1,81,12,44,855. The total purchase by Female is 54,89,30,546.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 category 2 has sold the most number of goods.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C9A22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product which has product id 'P00025442' has been purchased the most number of times</a:t>
            </a:r>
            <a:r>
              <a:rPr lang="en-IN" dirty="0"/>
              <a:t>.</a:t>
            </a:r>
            <a:endParaRPr lang="en-IN" sz="1400" dirty="0">
              <a:solidFill>
                <a:srgbClr val="C9A22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650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E60D11-B2FB-2ECD-6B70-D8AE3793CC35}"/>
              </a:ext>
            </a:extLst>
          </p:cNvPr>
          <p:cNvSpPr txBox="1"/>
          <p:nvPr/>
        </p:nvSpPr>
        <p:spPr>
          <a:xfrm>
            <a:off x="2955010" y="2812942"/>
            <a:ext cx="5943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Brush Script MT" panose="03060802040406070304" pitchFamily="66" charset="0"/>
              </a:rPr>
              <a:t>Thank You</a:t>
            </a:r>
            <a:endParaRPr lang="en-IN" sz="88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54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422</Words>
  <Application>Microsoft Office PowerPoint</Application>
  <PresentationFormat>Widescreen</PresentationFormat>
  <Paragraphs>74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Brush Script MT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hitesh mavani</dc:creator>
  <cp:lastModifiedBy>hitesh mavani</cp:lastModifiedBy>
  <cp:revision>5</cp:revision>
  <dcterms:created xsi:type="dcterms:W3CDTF">2026-09-07T08:39:43Z</dcterms:created>
  <dcterms:modified xsi:type="dcterms:W3CDTF">2026-09-07T10:12:51Z</dcterms:modified>
</cp:coreProperties>
</file>